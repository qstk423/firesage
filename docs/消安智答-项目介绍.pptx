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封面：定位、规模、指标与本册目录。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四类问题定义。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用户与场景。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讯飞命题三点对齐。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六大核心创新点。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六步技术架构。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十源知识底座。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混合检索与可信生成。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混合检索与可信生成。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GraphRAG 证据链。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微调完整版图。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微调完整版图。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风险置顶界面。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风险置顶界面。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追问与拒答引导。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价值与材料包自洽。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价值与材料包自洽。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iresage-校赛答辩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iresage-校赛答辩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a3603efe25da1989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cd5d6f4b02cc49f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c3afc73ad043aa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3a4fdf40bbc0f0e.png"/>
  <Relationship Id="rId3" Type="http://schemas.openxmlformats.org/officeDocument/2006/relationships/image" Target="../media/image_b62dc8fce300af6b.png"/>
  <Relationship Id="rId4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0dd1776bbcbdba1.png"/>
  <Relationship Id="rId3" Type="http://schemas.openxmlformats.org/officeDocument/2006/relationships/image" Target="../media/image_fab6740982884660.png"/>
  <Relationship Id="rId4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65760" y="1771650"/>
            <a:ext cx="164592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消安智答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71856" y="2425065"/>
            <a:ext cx="10891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FireSage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6238" y="3093720"/>
            <a:ext cx="15179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v0.7.1 · 智慧消防可信问答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6238" y="3474720"/>
            <a:ext cx="16027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科大讯飞命题 · 校赛项目介绍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6238" y="5998845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材料包内已含证据，不必依赖仓库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372356" y="1329690"/>
            <a:ext cx="289992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大模型微调 + RAG 融合的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72356" y="1758315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消防法规可信智能问答系统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381500" y="2190750"/>
            <a:ext cx="857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374642" y="2568892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法规事实来自检索，证据不足则拒答。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6166" y="2982278"/>
            <a:ext cx="31557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面向物业 / 网格员 / 值班员；真火情分流至 119。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81500" y="3524250"/>
            <a:ext cx="32385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66666" y="37919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知识底座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66666" y="4125278"/>
            <a:ext cx="17280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10 源 · 524 条款 · 1675 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67238" y="4427220"/>
            <a:ext cx="138466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图谱 118 实体 / 972 关系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810500" y="3524250"/>
            <a:ext cx="3810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995666" y="37919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关键指标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95666" y="4125278"/>
            <a:ext cx="18694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意图 hybrid 0.9688（test）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96238" y="4427220"/>
            <a:ext cx="124922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检索 full Hit@1 ≈ 0.90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381500" y="4762500"/>
            <a:ext cx="7239000" cy="12382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566666" y="5077778"/>
            <a:ext cx="42370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本册写清：问题 · 用户 · 命题对齐 · 创新点 · 能力 · 架构 · 知识库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66666" y="5411152"/>
            <a:ext cx="36012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意图微调 · 评测消融 · 界面能力 · 安全路径 · 技术价值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67238" y="5713095"/>
            <a:ext cx="3824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证据目录：01意图 · 02重排 · 03生成SFT · 04评测 · 消融表 · 截图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25656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项目要解决什么问题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52406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不是做「会聊天」的助手，而是做「答得对、说得出处、答不了就承认」的可信问答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47750"/>
            <a:ext cx="11277600" cy="10287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457200" y="1047750"/>
            <a:ext cx="76200" cy="102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55142" y="12639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口语难检索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6666" y="15821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基层不会说法言法语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95166" y="158210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关键词检索经常查不到或查不全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7200" y="2238375"/>
            <a:ext cx="11277600" cy="10287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457200" y="2238375"/>
            <a:ext cx="76200" cy="102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55142" y="245459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法规交叉易错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666" y="27727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多部法规交叉适用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95166" y="2772728"/>
            <a:ext cx="17492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主体 / 场所 / 罚则容易套错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57200" y="3429000"/>
            <a:ext cx="11277600" cy="10287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457200" y="3429000"/>
            <a:ext cx="76200" cy="102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5142" y="36452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误答代价高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666" y="396335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涉及法律责任与人身安全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95166" y="396335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通用大模型易编造条款号与罚则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57200" y="4619625"/>
            <a:ext cx="11277600" cy="10287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57200" y="4619625"/>
            <a:ext cx="76200" cy="102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55142" y="48358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应急与咨询易混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6666" y="5153978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「着火了怎么办」与「着火点认定」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995166" y="515397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路径必须分离，不能进罚则检索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290701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面向谁 · 用在什么场景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35444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创意计划阶段原型：可演示、可评测；输出仅供辅助参考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143000"/>
            <a:ext cx="3619500" cy="4762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8942" y="15211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主要用户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0466" y="2267902"/>
            <a:ext cx="19827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物业 / 单位消防安全管理人员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0466" y="2934652"/>
            <a:ext cx="13961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社区网格员与值班员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466" y="3601402"/>
            <a:ext cx="16788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院校实训与基层合规培训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267200" y="1143000"/>
            <a:ext cx="3619500" cy="4762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488942" y="15211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高频场景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90466" y="2267902"/>
            <a:ext cx="21029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隐患咨询：充电、疏散、灭火器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90466" y="2934652"/>
            <a:ext cx="22442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责任主体：谁管、谁罚、适用哪部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90466" y="3601402"/>
            <a:ext cx="19545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突发火情：先 119，再谈法规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077200" y="1143000"/>
            <a:ext cx="3619500" cy="4762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98942" y="152114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使用原则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00466" y="2267902"/>
            <a:ext cx="18626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结论 + 适用条件 + 依据条款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00466" y="2934652"/>
            <a:ext cx="15587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置信不足或库外 → 拒答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00466" y="3601402"/>
            <a:ext cx="16718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紧急情况请直接拨打 119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397916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命题对齐：科大讯飞要求的三点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34525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产业命题赛道 · 中国国际大学生创新大赛（2026）校赛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143000"/>
            <a:ext cx="3619500" cy="4762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5132" y="1440180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8942" y="204501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大模型微调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0466" y="274415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意图路由领域微调已完成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466" y="3220402"/>
            <a:ext cx="15796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test 混合准确率 0.9688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466" y="3982402"/>
            <a:ext cx="20119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重排可选 · 生成 SFT 数据已备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267200" y="1143000"/>
            <a:ext cx="3619500" cy="4762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485132" y="1440180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88942" y="2045018"/>
            <a:ext cx="7909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RAG 融合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90466" y="2744152"/>
            <a:ext cx="19252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BM25 + 语义向量 + GraphRAG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90466" y="32204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融合精排 + 引用核验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90466" y="39824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证据不足明确拒答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077200" y="1143000"/>
            <a:ext cx="3619500" cy="4762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295132" y="1440180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98942" y="204501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智慧消防应急问答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00466" y="2744152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法规咨询与真火情分流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00466" y="3220402"/>
            <a:ext cx="13181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真火情输出 119 指引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00466" y="39824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非通用闲聊助手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369646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核心创新点（评委一眼看懂）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49579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相对通用大模型与传统关键词检索：可分流、可检索、可解释、可拒答、可评测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477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58368" y="1326832"/>
            <a:ext cx="273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1416" y="183927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高风险意图分流微调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1416" y="2315528"/>
            <a:ext cx="17492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应急 / 咨询 / 拒答可测分流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1988" y="2712720"/>
            <a:ext cx="13543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test 混合准确率 0.9688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267200" y="10477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468368" y="1326832"/>
            <a:ext cx="273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71416" y="1839278"/>
            <a:ext cx="17496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三路混合 RAG + GraphRAG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471416" y="2315528"/>
            <a:ext cx="17580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BM25 · 向量 · 图谱同召回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71988" y="2712720"/>
            <a:ext cx="15845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回答可跳证据链，点邻居切换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077200" y="10477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278368" y="1326832"/>
            <a:ext cx="273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81416" y="1839278"/>
            <a:ext cx="17362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检索与生成解耦 + 核验拒答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1416" y="2315528"/>
            <a:ext cx="17068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事实来自法规库，不背条文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81988" y="2712720"/>
            <a:ext cx="15845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引用不过则降级；不够则拒答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57200" y="35242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58368" y="3803332"/>
            <a:ext cx="273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1416" y="43157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场景化可信交互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1416" y="4792028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风险置顶 · 相关追问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1988" y="5189220"/>
            <a:ext cx="109994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引导与拒答路径分离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267200" y="35242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468368" y="3803332"/>
            <a:ext cx="273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71416" y="43157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可复现评测闭环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471416" y="4792028"/>
            <a:ext cx="17093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FireEval ≈200 题 + 消融表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471988" y="5189220"/>
            <a:ext cx="9683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full Hit@1 ≈ 0.90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77200" y="35242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278368" y="3803332"/>
            <a:ext cx="273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81416" y="431577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垂直命题可落地原型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81416" y="4792028"/>
            <a:ext cx="19447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对齐讯飞：微调 + RAG + 消防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281988" y="5189220"/>
            <a:ext cx="15118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10 源知识库，可演示可核对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355193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产品能力总览（Web 原型）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41310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可信问答 + 法规知识图谱；下列能力均可在截图与本地演示中核对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00125"/>
            <a:ext cx="561975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61416" y="12677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口语法规问答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1988" y="1617345"/>
            <a:ext cx="26265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自然语言提问 → 结论 / 适用条件 / 依据 / 置信度</a:t>
            </a:r>
          </a:p>
        </p:txBody>
      </p:sp>
      <p:sp>
        <p:nvSpPr>
          <p:cNvPr id="8" name="Rectangle 8"/>
          <p:cNvSpPr/>
          <p:nvPr/>
        </p:nvSpPr>
        <p:spPr>
          <a:xfrm>
            <a:off x="6267450" y="1000125"/>
            <a:ext cx="561975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6471666" y="1267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条款可溯源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72238" y="1617345"/>
            <a:ext cx="19844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支撑条款 + 检索路径 + 官方原文链接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2190750"/>
            <a:ext cx="561975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61416" y="24584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火灾应急分流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1988" y="2807970"/>
            <a:ext cx="20995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真火情输出 119 指引，不进入罚则检索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67450" y="2190750"/>
            <a:ext cx="561975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71666" y="2458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拒答与引导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72238" y="280797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库外拒答；问法过宽先给可问示例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57200" y="3381375"/>
            <a:ext cx="561975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61416" y="36490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风险等级置顶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1988" y="3998595"/>
            <a:ext cx="21237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紧急 / 高 / 中 / 低，隐患轻重一眼可见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67450" y="3381375"/>
            <a:ext cx="561975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471666" y="36490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相关追问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72238" y="3998595"/>
            <a:ext cx="16148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回答外提供 3–4 条可点击追问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57200" y="4572000"/>
            <a:ext cx="561975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1416" y="4839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知识图谱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1988" y="5189220"/>
            <a:ext cx="19662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分簇总览；一级实线 / 二级虚线展开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267450" y="4572000"/>
            <a:ext cx="561975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6471666" y="483965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证据链跳转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472238" y="5189220"/>
            <a:ext cx="20692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从回答进入局部子图，点邻居切换中心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341376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技术架构：检索与生成解耦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39684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先分流，再混合检索，再核验；分错意图比答得不够漂亮更危险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477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59892" y="1378268"/>
            <a:ext cx="9028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 意图路由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1416" y="1934528"/>
            <a:ext cx="13121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规则 + 领域微调混合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1416" y="2410778"/>
            <a:ext cx="17492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应急 / 拒答引导 / 法规问答</a:t>
            </a:r>
          </a:p>
        </p:txBody>
      </p:sp>
      <p:sp>
        <p:nvSpPr>
          <p:cNvPr id="9" name="Rectangle 9"/>
          <p:cNvSpPr/>
          <p:nvPr/>
        </p:nvSpPr>
        <p:spPr>
          <a:xfrm>
            <a:off x="4267200" y="10477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469892" y="1378268"/>
            <a:ext cx="10846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2 场景结构化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71416" y="1934528"/>
            <a:ext cx="16535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主体 · 行为 · 场所 · 对象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71416" y="2410778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口语改写为可检索查询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077200" y="10477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279892" y="1378268"/>
            <a:ext cx="9028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3 三路召回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81416" y="1934528"/>
            <a:ext cx="19917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BM25 · 语义向量 · GraphRAG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81416" y="241077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口语与法言同时覆盖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57200" y="35242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59892" y="3854768"/>
            <a:ext cx="9028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4 融合精排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1416" y="4411028"/>
            <a:ext cx="14000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RRF + 法规重排 + 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1416" y="488727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提升条款命中质量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267200" y="35242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469892" y="3854768"/>
            <a:ext cx="9028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5 约束生成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471416" y="44110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仅依据检索条款作答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71416" y="488727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失败则降级原文摘录</a:t>
            </a:r>
          </a:p>
        </p:txBody>
      </p:sp>
      <p:sp>
        <p:nvSpPr>
          <p:cNvPr id="25" name="Rectangle 25"/>
          <p:cNvSpPr/>
          <p:nvPr/>
        </p:nvSpPr>
        <p:spPr>
          <a:xfrm>
            <a:off x="8077200" y="3524250"/>
            <a:ext cx="3619500" cy="2238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279892" y="3854768"/>
            <a:ext cx="9028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6 引用核验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281416" y="44110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引用是否在依据内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81416" y="488727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不够则拒答，不编造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313105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知识底座：覆盖什么法规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51233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 部来源 · 524 条款 · 1675 语义句 · 图谱 118 / 972（与当前 Web 原型一致）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00125"/>
            <a:ext cx="2171700" cy="1219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04266" y="1343978"/>
            <a:ext cx="4347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消防法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4838" y="1741170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基础上位法</a:t>
            </a:r>
          </a:p>
        </p:txBody>
      </p:sp>
      <p:sp>
        <p:nvSpPr>
          <p:cNvPr id="8" name="Rectangle 8"/>
          <p:cNvSpPr/>
          <p:nvPr/>
        </p:nvSpPr>
        <p:spPr>
          <a:xfrm>
            <a:off x="2743200" y="1000125"/>
            <a:ext cx="2171700" cy="1219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890266" y="1343978"/>
            <a:ext cx="5011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61 号令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90838" y="1741170"/>
            <a:ext cx="8758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监督检查 / 处罚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029200" y="1000125"/>
            <a:ext cx="2171700" cy="1219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76266" y="13439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高层规定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76838" y="17411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高层管理责任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315200" y="1000125"/>
            <a:ext cx="2171700" cy="1219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462266" y="13439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责任制办法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62838" y="17411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单位主体责任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601200" y="1000125"/>
            <a:ext cx="2171700" cy="1219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748266" y="1343978"/>
            <a:ext cx="5011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39 号令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48838" y="17411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公共娱乐场所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57200" y="2381250"/>
            <a:ext cx="2171700" cy="1219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04266" y="27251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电动车充电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4838" y="31222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高频隐患场景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743200" y="2381250"/>
            <a:ext cx="2171700" cy="1219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2890266" y="27251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密集场所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90838" y="312229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场所专项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029200" y="2381250"/>
            <a:ext cx="2171700" cy="1219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176266" y="27251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广东高层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76838" y="3122295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地方补充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15200" y="2381250"/>
            <a:ext cx="2171700" cy="1219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462266" y="27251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技术服务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62838" y="3122295"/>
            <a:ext cx="85763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机构资质与义务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601200" y="2381250"/>
            <a:ext cx="2171700" cy="12192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748266" y="27251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消设审查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48838" y="3122295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设计审查验收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57200" y="4000500"/>
            <a:ext cx="11277600" cy="20002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78942" y="4378642"/>
            <a:ext cx="31032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加工方式（评委可在解决方案中核对）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80466" y="4934902"/>
            <a:ext cx="39188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条款切分 → 语义句分块 → 向量索引（bge-m3）→ BM25 索引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0466" y="5363528"/>
            <a:ext cx="45058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实体与关系抽取入图谱；回答侧保留条款号与原文链接，便于人工核验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1038" y="5760720"/>
            <a:ext cx="325678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97155" indent="-97155">
              <a:buClr>
                <a:schemeClr val="accent3"/>
              </a:buClr>
              <a:buSzTx/>
              <a:buFontTx/>
              <a:buChar char="•"/>
            </a:pPr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新增专题：社会消防技术服务、建设工程消防设计审查验收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382458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混合检索与可信生成（RAG）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38695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三路召回互补：关键词精确 · 向量承接口语 · 图谱补关系路径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47750"/>
            <a:ext cx="3619500" cy="4953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8942" y="13782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召回与精排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0466" y="2077402"/>
            <a:ext cx="12740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BM25 关键词检索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0466" y="2553652"/>
            <a:ext cx="12265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bge-m3 语义向量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466" y="3029902"/>
            <a:ext cx="13885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GraphRAG 关系路径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466" y="3696652"/>
            <a:ext cx="7051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融合：RRF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0466" y="417290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精排：法规意图重排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0466" y="4649152"/>
            <a:ext cx="10736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+ CrossEncoder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1038" y="5236845"/>
            <a:ext cx="83158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消融见第 12 页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86250" y="1047750"/>
            <a:ext cx="3619500" cy="4953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507992" y="1378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生成约束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09516" y="2077402"/>
            <a:ext cx="16788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只依据检索条款组织答案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09516" y="2648902"/>
            <a:ext cx="17212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结构：结论 / 条件 / 依据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09516" y="3220402"/>
            <a:ext cx="13961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引用必须落在依据内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09516" y="3791902"/>
            <a:ext cx="14173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核验失败 → 原文降级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09516" y="4363402"/>
            <a:ext cx="14173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证据不足 → 明确拒答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09516" y="51254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不靠模型背条文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115300" y="1047750"/>
            <a:ext cx="3619500" cy="495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337042" y="1378268"/>
            <a:ext cx="146781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与通用 LLM 差异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38566" y="2077402"/>
            <a:ext cx="12548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rgbClr val="ECE7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事实不进参数记忆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38566" y="2648902"/>
            <a:ext cx="13961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rgbClr val="ECE7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每条结论可回溯条款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38566" y="3220402"/>
            <a:ext cx="11134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rgbClr val="ECE7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低置信宁可不答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38566" y="3791902"/>
            <a:ext cx="12548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rgbClr val="ECE7E1"/>
              </a:buClr>
              <a:buSzTx/>
              <a:buFontTx/>
              <a:buChar char="•"/>
            </a:pPr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应急路径单独设计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37042" y="4616768"/>
            <a:ext cx="132358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可评测 · 可核验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37042" y="5140642"/>
            <a:ext cx="7119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53019" indent="-153019">
              <a:buClr>
                <a:schemeClr val="accent2"/>
              </a:buClr>
              <a:buSzTx/>
              <a:buFontTx/>
              <a:buChar char="•"/>
            </a:pPr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可拒答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491314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GraphRAG：条款关系 → 可解释证据链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37069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回答可跳局部子图；一级实线 / 二级虚线；点邻居切换中心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00125"/>
            <a:ext cx="3619500" cy="50482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8942" y="1378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技术作用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0466" y="2029778"/>
            <a:ext cx="19121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实体：主体/行为/对象/罚则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0466" y="2553652"/>
            <a:ext cx="13961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边：关联到具体条款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466" y="3077528"/>
            <a:ext cx="15375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检索：第三路召回信号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466" y="3601402"/>
            <a:ext cx="16788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解释：回答后可看证据链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0466" y="4363402"/>
            <a:ext cx="13255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118 实体 / 972 关系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1038" y="4855845"/>
            <a:ext cx="10636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覆盖 10 部法规来源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1038" y="5332095"/>
            <a:ext cx="12392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截图：一级 / 二级展开</a:t>
            </a:r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2"/>
          <a:srcRect l="2703" t="0" r="2703" b="0"/>
          <a:stretch>
            <a:fillRect/>
          </a:stretch>
        </p:blipFill>
        <p:spPr>
          <a:xfrm>
            <a:off x="4381500" y="1000125"/>
            <a:ext cx="7353300" cy="504825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414242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领域微调①：意图路由（已上线）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37069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分错意图比答得不够漂亮更危险 → 优先把分流做稳、做可测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00125"/>
            <a:ext cx="5334000" cy="476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42366" y="120110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划分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18666" y="120110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0666" y="120110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规则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23666" y="120110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微调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66666" y="120110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混合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76375"/>
            <a:ext cx="5334000" cy="4953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42366" y="1686878"/>
            <a:ext cx="25555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dev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18666" y="1686878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29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80666" y="168687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1.0000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23666" y="168687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0.9655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65142" y="1654492"/>
            <a:ext cx="6434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1.0000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57200" y="1971675"/>
            <a:ext cx="5334000" cy="495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42366" y="2182178"/>
            <a:ext cx="3371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test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18666" y="2182178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32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80666" y="218217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0.9062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23666" y="218217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0.9375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65142" y="2149792"/>
            <a:ext cx="6434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0.9688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57200" y="2619375"/>
            <a:ext cx="5334000" cy="3333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78942" y="2949892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设计说明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0466" y="3506152"/>
            <a:ext cx="21241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线上默认：规则 + 微调混合路由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0466" y="3934778"/>
            <a:ext cx="23644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三类：应急 · 拒答/引导 · 法规问答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0466" y="4363402"/>
            <a:ext cx="189090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证据：材料包 01-意图微调/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0466" y="4792028"/>
            <a:ext cx="24139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复现：train_intent.py --compare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1038" y="5332095"/>
            <a:ext cx="17542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右图：规则 vs 微调 vs 混合对比</a:t>
            </a:r>
          </a:p>
        </p:txBody>
      </p:sp>
      <p:pic>
        <p:nvPicPr>
          <p:cNvPr id="30" name="Imag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45667"/>
            <a:ext cx="5638800" cy="3661916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442512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领域微调②：完整版图与数据就绪度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51757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命题关键词「大模型微调」——意图已落地；重排可开；生成 SFT 已备云端 LoRA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47750"/>
            <a:ext cx="3619500" cy="4953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8942" y="14735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意图路由微调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0466" y="217265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状态：已完成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0466" y="2696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线上默认混合路由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466" y="32204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test hybrid 0.9688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1038" y="3903345"/>
            <a:ext cx="11241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材料：01-意图微调/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286250" y="1047750"/>
            <a:ext cx="3619500" cy="4953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507992" y="14735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条款重排微调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09516" y="217265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状态：有实验与开关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09516" y="2696528"/>
            <a:ext cx="142417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默认关闭，可复现打开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09516" y="3220402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服务精排链路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10088" y="3903345"/>
            <a:ext cx="11241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材料：02-重排微调/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115300" y="1047750"/>
            <a:ext cx="3619500" cy="495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337042" y="1473518"/>
            <a:ext cx="98295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生成式 SFT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38566" y="2172652"/>
            <a:ext cx="12670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状态：JSONL 已备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38566" y="2696528"/>
            <a:ext cx="11600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供云端 LoRA 训练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38566" y="3220402"/>
            <a:ext cx="13772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线上：检索约束 LLM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38566" y="3744278"/>
            <a:ext cx="11202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+ 抽取式降级兜底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39138" y="4427220"/>
            <a:ext cx="13984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材料：03-生成SFT数据/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39138" y="5046345"/>
            <a:ext cx="16498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评测集：04 + FireEval≈200题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498200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评测：FireEval + 检索消融（完整表）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55920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n=164 · bge-m3 · degraded_vector=False · 生成于 2026-09-04；材料包内有同名 md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000125"/>
            <a:ext cx="7620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80466" y="1191578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模式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71166" y="1191578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说明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47666" y="1191578"/>
            <a:ext cx="3887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Hit@1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90666" y="1191578"/>
            <a:ext cx="38871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Hit@3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38416" y="1191578"/>
            <a:ext cx="3007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MRR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57200" y="1457325"/>
            <a:ext cx="7620000" cy="4953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80466" y="1667828"/>
            <a:ext cx="3668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bm25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471166" y="1667828"/>
            <a:ext cx="5632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仅 BM25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46142" y="1635442"/>
            <a:ext cx="6434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0.6098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90666" y="166782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0.8659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38416" y="166782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0.7415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57200" y="1952625"/>
            <a:ext cx="7620000" cy="495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80466" y="2163128"/>
            <a:ext cx="938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bm25_vector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71166" y="2163128"/>
            <a:ext cx="8395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BM25 + 向量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46142" y="2130742"/>
            <a:ext cx="6434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0.7256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90666" y="216312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0.9268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38416" y="216312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0.8254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57200" y="2447925"/>
            <a:ext cx="7620000" cy="4953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80466" y="2658428"/>
            <a:ext cx="4633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hybrid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71166" y="265842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三路无重排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46142" y="2626042"/>
            <a:ext cx="6434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0.5732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90666" y="265842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0.8902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38416" y="265842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0.7308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7200" y="2943225"/>
            <a:ext cx="7620000" cy="495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80466" y="3153728"/>
            <a:ext cx="2629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full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471166" y="3153728"/>
            <a:ext cx="9366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三路+重排+CE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46142" y="3121342"/>
            <a:ext cx="6434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0.9024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90666" y="315372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0.9756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138416" y="3153728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0.9394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382000" y="1000125"/>
            <a:ext cx="3352800" cy="247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641842" y="1378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读表结论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43366" y="1982152"/>
            <a:ext cx="11196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向量显著抬升 Hit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643366" y="24584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图谱需重排托住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641842" y="2997518"/>
            <a:ext cx="152379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full Hit@1 ≈ 0.90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57200" y="3714750"/>
            <a:ext cx="11277600" cy="2286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78942" y="409289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评测体系（不必打开仓库）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0466" y="4649152"/>
            <a:ext cx="45164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FireEval ≈200 题：法规 / 应急 / 拒答 / 追问，train·dev·test 划分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80466" y="5077778"/>
            <a:ext cx="38756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可复跑门禁：路由准确率 · Hit@1/3 · 拒答率 · 引用忠实度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81038" y="5522595"/>
            <a:ext cx="279007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97155" indent="-97155">
              <a:buClr>
                <a:schemeClr val="accent3"/>
              </a:buClr>
              <a:buSzTx/>
              <a:buFontTx/>
              <a:buChar char="•"/>
            </a:pPr>
            <a:r>
              <a:rPr lang="zh-CN" sz="9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证据：04-评测指标/ + FireSage-检索消融表.md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448378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内容呈现①：风险置顶 + 结构化结论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34172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把「结论—依据—可信度」一次说清；截图来自实机界面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9501" t="0" r="9501" b="0"/>
          <a:stretch>
            <a:fillRect/>
          </a:stretch>
        </p:blipFill>
        <p:spPr>
          <a:xfrm>
            <a:off x="457200" y="952500"/>
            <a:ext cx="7239000" cy="5048250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8001000" y="952500"/>
            <a:ext cx="3733800" cy="50482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260842" y="137826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界面信息结构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62366" y="2077402"/>
            <a:ext cx="11134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顶栏：风险等级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262366" y="2601278"/>
            <a:ext cx="12548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中部：结构化结论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62366" y="3125152"/>
            <a:ext cx="9721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适用条件分点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62366" y="3649028"/>
            <a:ext cx="9721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底部：可信度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62366" y="4172902"/>
            <a:ext cx="11134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支撑条款可溯源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62366" y="4696778"/>
            <a:ext cx="12548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可跳转图谱证据链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262366" y="53159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降低二次输入成本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454244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内容呈现②：相关追问 · 拒答 / 引导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35444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追问在气泡外；问法过宽先引导；库外或低置信明确拒答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4214" r="0" b="4215"/>
          <a:stretch>
            <a:fillRect/>
          </a:stretch>
        </p:blipFill>
        <p:spPr>
          <a:xfrm>
            <a:off x="457200" y="952500"/>
            <a:ext cx="5524500" cy="2857500"/>
          </a:xfrm>
          <a:prstGeom prst="rect">
            <a:avLst/>
          </a:prstGeom>
        </p:spPr>
      </p:pic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rcRect l="0" t="4214" r="0" b="4215"/>
          <a:stretch>
            <a:fillRect/>
          </a:stretch>
        </p:blipFill>
        <p:spPr>
          <a:xfrm>
            <a:off x="6210300" y="952500"/>
            <a:ext cx="5524500" cy="2857500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457200" y="4095750"/>
            <a:ext cx="5524500" cy="1905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8942" y="44262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相关追问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466" y="4934902"/>
            <a:ext cx="17422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回答后给 3–4 条可点击追问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1038" y="5379720"/>
            <a:ext cx="158457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降低基层二次组织问题的成本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10300" y="4095750"/>
            <a:ext cx="5524500" cy="1905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432042" y="442626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拒答与引导区分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33566" y="4934902"/>
            <a:ext cx="18906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过宽 → 可问示例；库外 → 拒答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33566" y="53635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宁可拒答，不可答错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46532" y="173355"/>
            <a:ext cx="403782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安全路径：应急分流 · 条款溯源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1866" y="591502"/>
            <a:ext cx="28376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真火情不进罚则检索；法规问答必须给得出处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rcRect l="0" t="7522" r="0" b="7521"/>
          <a:stretch>
            <a:fillRect/>
          </a:stretch>
        </p:blipFill>
        <p:spPr>
          <a:xfrm>
            <a:off x="457200" y="952500"/>
            <a:ext cx="5524500" cy="3048000"/>
          </a:xfrm>
          <a:prstGeom prst="rect">
            <a:avLst/>
          </a:prstGeom>
        </p:spPr>
      </p:pic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rcRect l="0" t="7522" r="0" b="7521"/>
          <a:stretch>
            <a:fillRect/>
          </a:stretch>
        </p:blipFill>
        <p:spPr>
          <a:xfrm>
            <a:off x="6210300" y="952500"/>
            <a:ext cx="5524500" cy="3048000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457200" y="4286250"/>
            <a:ext cx="55245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78942" y="46167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真火情应急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466" y="5125402"/>
            <a:ext cx="20461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识别真火情 → 输出 119 处置指引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1038" y="5522595"/>
            <a:ext cx="14815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不进入罚则 / 责任条款检索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10300" y="4286250"/>
            <a:ext cx="55245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6432042" y="4616768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条款可溯源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33566" y="5125402"/>
            <a:ext cx="20319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支撑条款 + 检索路径 + 原文入口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34138" y="5522595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评委可在截图中直接核对出处形态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42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642492" y="440055"/>
            <a:ext cx="290701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技术价值 + 材料包自洽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59858" y="982028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法规事实来自检索，证据不足则拒答</a:t>
            </a:r>
          </a:p>
        </p:txBody>
      </p:sp>
      <p:sp>
        <p:nvSpPr>
          <p:cNvPr id="5" name="Rectangle 5"/>
          <p:cNvSpPr/>
          <p:nvPr/>
        </p:nvSpPr>
        <p:spPr>
          <a:xfrm>
            <a:off x="457200" y="1714500"/>
            <a:ext cx="5905500" cy="4095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78942" y="2045018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我们坚持什么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0466" y="2601278"/>
            <a:ext cx="19615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检索与生成解耦，不靠背条文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0466" y="3029902"/>
            <a:ext cx="20039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意图微调分流可测（0.9688）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466" y="3458528"/>
            <a:ext cx="19314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三路混合检索至 Hit@1≈0.90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0466" y="3887152"/>
            <a:ext cx="16792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GraphRAG 证据链可解释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0466" y="4315778"/>
            <a:ext cx="18202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核验失败降级；不够就拒答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0466" y="4744402"/>
            <a:ext cx="19827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113348" indent="-113348">
              <a:buClr>
                <a:schemeClr val="dk1"/>
              </a:buClr>
              <a:buSzTx/>
              <a:buFontTx/>
              <a:buChar char="•"/>
            </a:pPr>
            <a:r>
              <a: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风险置顶 + 追问降低使用成本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1038" y="5284470"/>
            <a:ext cx="17178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紧急请拨打 119 · 输出仅供参考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667500" y="1714500"/>
            <a:ext cx="5067300" cy="4095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927342" y="2045018"/>
            <a:ext cx="177603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评委不必打开 GitHub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28866" y="2648902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本册 + 计划书 / 解决方案 PDF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28866" y="307752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01～04 微调与评测证据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28866" y="3506152"/>
            <a:ext cx="15655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检索消融表（完整数字）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28866" y="3934778"/>
            <a:ext cx="13393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CE7E1"/>
                </a:solidFill>
                <a:latin typeface="+mn-lt"/>
                <a:ea typeface="+mn-ea"/>
                <a:cs typeface="+mn-cs"/>
              </a:rPr>
              <a:t>06 演示截图（实机）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28866" y="4553902"/>
            <a:ext cx="16241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邱世涛 · 张泽雅 · 赵家杰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29438" y="499872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指导：刘才华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29438" y="5379720"/>
            <a:ext cx="122110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计算机与人工智能学院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2438" y="6597491"/>
            <a:ext cx="22037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消安智答 FireSage · 项目介绍（评委阅读）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26469" y="6597491"/>
            <a:ext cx="3130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17/17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iresage-校赛答辩">
  <a:themeElements>
    <a:clrScheme name="firesage-校赛答辩">
      <a:dk1>
        <a:srgbClr val="1C2430"/>
      </a:dk1>
      <a:lt1>
        <a:srgbClr val="F7F5F2"/>
      </a:lt1>
      <a:dk2>
        <a:srgbClr val="1F497D"/>
      </a:dk2>
      <a:lt2>
        <a:srgbClr val="ECE7E1"/>
      </a:lt2>
      <a:accent1>
        <a:srgbClr val="1B2A41"/>
      </a:accent1>
      <a:accent2>
        <a:srgbClr val="D94A2B"/>
      </a:accent2>
      <a:accent3>
        <a:srgbClr val="3E6B8A"/>
      </a:accent3>
      <a:accent4>
        <a:srgbClr val="1B2A41"/>
      </a:accent4>
      <a:accent5>
        <a:srgbClr val="5C6570"/>
      </a:accent5>
      <a:accent6>
        <a:srgbClr val="C9C2B8"/>
      </a:accent6>
      <a:hlink>
        <a:srgbClr val="D94A2B"/>
      </a:hlink>
      <a:folHlink>
        <a:srgbClr val="3E6B8A"/>
      </a:folHlink>
    </a:clrScheme>
    <a:fontScheme name="firesage-校赛答辩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iresage-校赛答辩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iresage-校赛答辩">
  <a:themeElements>
    <a:clrScheme name="firesage-校赛答辩">
      <a:dk1>
        <a:srgbClr val="1C2430"/>
      </a:dk1>
      <a:lt1>
        <a:srgbClr val="F7F5F2"/>
      </a:lt1>
      <a:dk2>
        <a:srgbClr val="1F497D"/>
      </a:dk2>
      <a:lt2>
        <a:srgbClr val="ECE7E1"/>
      </a:lt2>
      <a:accent1>
        <a:srgbClr val="1B2A41"/>
      </a:accent1>
      <a:accent2>
        <a:srgbClr val="D94A2B"/>
      </a:accent2>
      <a:accent3>
        <a:srgbClr val="3E6B8A"/>
      </a:accent3>
      <a:accent4>
        <a:srgbClr val="1B2A41"/>
      </a:accent4>
      <a:accent5>
        <a:srgbClr val="5C6570"/>
      </a:accent5>
      <a:accent6>
        <a:srgbClr val="C9C2B8"/>
      </a:accent6>
      <a:hlink>
        <a:srgbClr val="D94A2B"/>
      </a:hlink>
      <a:folHlink>
        <a:srgbClr val="3E6B8A"/>
      </a:folHlink>
    </a:clrScheme>
    <a:fontScheme name="firesage-校赛答辩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iresage-校赛答辩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2026-09-06T03:22:26Z</dcterms:created>
  <dcterms:modified xsi:type="dcterms:W3CDTF">2026-09-06T03:22:26Z</dcterms:modified>
  <cp:category/>
  <cp:contentStatus/>
</cp:coreProperties>
</file>